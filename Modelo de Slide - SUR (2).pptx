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Lato" panose="020F0502020204030203" pitchFamily="34" charset="0"/>
      <p:regular r:id="rId6"/>
      <p:bold r:id="rId7"/>
      <p:italic r:id="rId8"/>
      <p:boldItalic r:id="rId9"/>
    </p:embeddedFont>
    <p:embeddedFont>
      <p:font typeface="Plus Jakarta Sans" panose="020B0604020202020204" charset="0"/>
      <p:regular r:id="rId10"/>
      <p:bold r:id="rId11"/>
      <p:italic r:id="rId12"/>
      <p:boldItalic r:id="rId13"/>
    </p:embeddedFont>
    <p:embeddedFont>
      <p:font typeface="Plus Jakarta Sans ExtraBold" panose="020B0604020202020204" charset="0"/>
      <p:bold r:id="rId14"/>
      <p:boldItalic r:id="rId15"/>
    </p:embeddedFont>
    <p:embeddedFont>
      <p:font typeface="Plus Jakarta Sans Medium" panose="020B0604020202020204" charset="0"/>
      <p:regular r:id="rId16"/>
      <p:bold r:id="rId17"/>
      <p:italic r:id="rId18"/>
      <p:boldItalic r:id="rId19"/>
    </p:embeddedFont>
    <p:embeddedFont>
      <p:font typeface="Plus Jakarta Sans SemiBold" panose="020B060402020202020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oppins SemiBold" panose="000007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24E403-B34E-4349-86C8-06DBE12FC7C8}">
  <a:tblStyle styleId="{A024E403-B34E-4349-86C8-06DBE12FC7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26" Type="http://schemas.openxmlformats.org/officeDocument/2006/relationships/font" Target="fonts/font21.fntdata"/><Relationship Id="rId3" Type="http://schemas.openxmlformats.org/officeDocument/2006/relationships/slide" Target="slides/slide2.xml"/><Relationship Id="rId21" Type="http://schemas.openxmlformats.org/officeDocument/2006/relationships/font" Target="fonts/font16.fntdata"/><Relationship Id="rId34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font" Target="fonts/font2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29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font" Target="fonts/font19.fntdata"/><Relationship Id="rId32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openxmlformats.org/officeDocument/2006/relationships/font" Target="fonts/font18.fntdata"/><Relationship Id="rId28" Type="http://schemas.openxmlformats.org/officeDocument/2006/relationships/font" Target="fonts/font23.fntdata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31" Type="http://schemas.openxmlformats.org/officeDocument/2006/relationships/font" Target="fonts/font26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font" Target="fonts/font17.fntdata"/><Relationship Id="rId27" Type="http://schemas.openxmlformats.org/officeDocument/2006/relationships/font" Target="fonts/font22.fntdata"/><Relationship Id="rId30" Type="http://schemas.openxmlformats.org/officeDocument/2006/relationships/font" Target="fonts/font25.fntdata"/><Relationship Id="rId35" Type="http://schemas.openxmlformats.org/officeDocument/2006/relationships/tableStyles" Target="tableStyles.xml"/><Relationship Id="rId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10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21.png"/><Relationship Id="rId22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9" Type="http://schemas.openxmlformats.org/officeDocument/2006/relationships/image" Target="../media/image61.png"/><Relationship Id="rId21" Type="http://schemas.openxmlformats.org/officeDocument/2006/relationships/image" Target="../media/image43.png"/><Relationship Id="rId34" Type="http://schemas.openxmlformats.org/officeDocument/2006/relationships/image" Target="../media/image56.png"/><Relationship Id="rId42" Type="http://schemas.openxmlformats.org/officeDocument/2006/relationships/image" Target="../media/image64.png"/><Relationship Id="rId47" Type="http://schemas.openxmlformats.org/officeDocument/2006/relationships/image" Target="../media/image69.png"/><Relationship Id="rId50" Type="http://schemas.openxmlformats.org/officeDocument/2006/relationships/image" Target="../media/image7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8.png"/><Relationship Id="rId29" Type="http://schemas.openxmlformats.org/officeDocument/2006/relationships/image" Target="../media/image51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32" Type="http://schemas.openxmlformats.org/officeDocument/2006/relationships/image" Target="../media/image54.png"/><Relationship Id="rId37" Type="http://schemas.openxmlformats.org/officeDocument/2006/relationships/image" Target="../media/image59.png"/><Relationship Id="rId40" Type="http://schemas.openxmlformats.org/officeDocument/2006/relationships/image" Target="../media/image62.png"/><Relationship Id="rId45" Type="http://schemas.openxmlformats.org/officeDocument/2006/relationships/image" Target="../media/image67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36" Type="http://schemas.openxmlformats.org/officeDocument/2006/relationships/image" Target="../media/image58.png"/><Relationship Id="rId49" Type="http://schemas.openxmlformats.org/officeDocument/2006/relationships/image" Target="../media/image71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31" Type="http://schemas.openxmlformats.org/officeDocument/2006/relationships/image" Target="../media/image53.png"/><Relationship Id="rId44" Type="http://schemas.openxmlformats.org/officeDocument/2006/relationships/image" Target="../media/image66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Relationship Id="rId30" Type="http://schemas.openxmlformats.org/officeDocument/2006/relationships/image" Target="../media/image52.png"/><Relationship Id="rId35" Type="http://schemas.openxmlformats.org/officeDocument/2006/relationships/image" Target="../media/image57.png"/><Relationship Id="rId43" Type="http://schemas.openxmlformats.org/officeDocument/2006/relationships/image" Target="../media/image65.png"/><Relationship Id="rId48" Type="http://schemas.openxmlformats.org/officeDocument/2006/relationships/image" Target="../media/image70.png"/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33" Type="http://schemas.openxmlformats.org/officeDocument/2006/relationships/image" Target="../media/image55.png"/><Relationship Id="rId38" Type="http://schemas.openxmlformats.org/officeDocument/2006/relationships/image" Target="../media/image60.png"/><Relationship Id="rId46" Type="http://schemas.openxmlformats.org/officeDocument/2006/relationships/image" Target="../media/image68.png"/><Relationship Id="rId20" Type="http://schemas.openxmlformats.org/officeDocument/2006/relationships/image" Target="../media/image42.png"/><Relationship Id="rId41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6;p13" descr="image.png">
            <a:extLst>
              <a:ext uri="{FF2B5EF4-FFF2-40B4-BE49-F238E27FC236}">
                <a16:creationId xmlns:a16="http://schemas.microsoft.com/office/drawing/2014/main" id="{1E479156-59DF-5B45-5191-A300563541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523" y="1401961"/>
            <a:ext cx="7042308" cy="4198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3806" y="1421010"/>
            <a:ext cx="4179093" cy="4179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" y="5734050"/>
            <a:ext cx="36957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8150" y="5734050"/>
            <a:ext cx="36957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77200" y="5734050"/>
            <a:ext cx="36957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0075" y="1935360"/>
            <a:ext cx="6603206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74781" y="193536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74781" y="241161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74781" y="288786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74781" y="336411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74781" y="384036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74781" y="4316610"/>
            <a:ext cx="3817143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791700" y="342900"/>
            <a:ext cx="1981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Portfólio: Produto X (Ativos Físicos)</a:t>
            </a: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Diretoria de Riscos &amp; Modelagem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419100" y="600075"/>
            <a:ext cx="8261032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Novo Modelo de Scoring — Operação Secundária (Produto X)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419100" y="925710"/>
            <a:ext cx="7867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Financiamento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Ativos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Físicos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: Alta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capacidade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discriminação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da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ordenamento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risco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3" name="Google Shape;103;p13"/>
          <p:cNvSpPr txBox="1"/>
          <p:nvPr/>
        </p:nvSpPr>
        <p:spPr>
          <a:xfrm>
            <a:off x="561975" y="5838825"/>
            <a:ext cx="358044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PÚBLICO VALIDADO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561975" y="6038850"/>
            <a:ext cx="340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Operação Secundária (Produto X)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4391025" y="5838825"/>
            <a:ext cx="358044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IMPACTO ESTIMADO NA APROVAÇÃO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4391025" y="6038850"/>
            <a:ext cx="340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6A34A"/>
                </a:solidFill>
                <a:latin typeface="Lato"/>
                <a:ea typeface="Lato"/>
                <a:cs typeface="Lato"/>
                <a:sym typeface="Lato"/>
              </a:rPr>
              <a:t>+14% de Volume com Risco Controlado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8220075" y="5838825"/>
            <a:ext cx="358044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ESTRATÉGIA DE RECUSA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8220075" y="6038850"/>
            <a:ext cx="340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Recusa Automatizada na Faixa F (Corte Seco)</a:t>
            </a:r>
            <a:endParaRPr/>
          </a:p>
        </p:txBody>
      </p:sp>
      <p:pic>
        <p:nvPicPr>
          <p:cNvPr id="109" name="Google Shape;109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14350" y="409575"/>
            <a:ext cx="112514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00075" y="1630560"/>
            <a:ext cx="2000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 txBox="1"/>
          <p:nvPr/>
        </p:nvSpPr>
        <p:spPr>
          <a:xfrm>
            <a:off x="895350" y="1601985"/>
            <a:ext cx="47205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Métricas de Desempenho: Modelo Novo vs. Modelo Anterior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609600" y="1944885"/>
            <a:ext cx="6584156" cy="2066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" name="Google Shape;113;p13"/>
          <p:cNvGraphicFramePr/>
          <p:nvPr/>
        </p:nvGraphicFramePr>
        <p:xfrm>
          <a:off x="609600" y="1944885"/>
          <a:ext cx="6574625" cy="2066875"/>
        </p:xfrm>
        <a:graphic>
          <a:graphicData uri="http://schemas.openxmlformats.org/drawingml/2006/table">
            <a:tbl>
              <a:tblPr firstRow="1" bandRow="1">
                <a:noFill/>
                <a:tableStyleId>{A024E403-B34E-4349-86C8-06DBE12FC7C8}</a:tableStyleId>
              </a:tblPr>
              <a:tblGrid>
                <a:gridCol w="218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Atributo / Métrica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Modelo Novo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Modelo Anterior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Público-Alvo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Produto X (Ativos Específicos)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Produto X (Genérico)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Poder Discriminatório (KS)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48.2% (+12.4 pp)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35.8%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Coeficiente Gini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62.5% (+15.1 pp)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47.4%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Variáveis Chave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Renda, Restritivos, Comportamental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Bureau Tradicional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Taxa de Inadimplência Média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3.2% (Carteira Teste)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4" name="Google Shape;114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774781" y="1630560"/>
            <a:ext cx="1809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/>
          <p:nvPr/>
        </p:nvSpPr>
        <p:spPr>
          <a:xfrm>
            <a:off x="8051006" y="1601985"/>
            <a:ext cx="350043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Clusterização das Saídas (Faixas de Risco)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8060532" y="1989973"/>
            <a:ext cx="27217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Faixa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 (FX-A)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Até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1,0%</a:t>
            </a:r>
            <a:endParaRPr dirty="0"/>
          </a:p>
        </p:txBody>
      </p:sp>
      <p:sp>
        <p:nvSpPr>
          <p:cNvPr id="117" name="Google Shape;117;p13"/>
          <p:cNvSpPr txBox="1"/>
          <p:nvPr/>
        </p:nvSpPr>
        <p:spPr>
          <a:xfrm>
            <a:off x="7889081" y="216396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Perfil Prime • Menor probabilidade de default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8077200" y="2467307"/>
            <a:ext cx="274081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Faixa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B (FX-B)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~ 1,8%</a:t>
            </a:r>
            <a:endParaRPr dirty="0"/>
          </a:p>
        </p:txBody>
      </p:sp>
      <p:sp>
        <p:nvSpPr>
          <p:cNvPr id="119" name="Google Shape;119;p13"/>
          <p:cNvSpPr txBox="1"/>
          <p:nvPr/>
        </p:nvSpPr>
        <p:spPr>
          <a:xfrm>
            <a:off x="7889081" y="264021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Risco Baixo • Alta conversão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8077200" y="2954535"/>
            <a:ext cx="275034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Faixa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 (FX-C)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~ 2,9%</a:t>
            </a:r>
            <a:endParaRPr dirty="0"/>
          </a:p>
        </p:txBody>
      </p:sp>
      <p:sp>
        <p:nvSpPr>
          <p:cNvPr id="121" name="Google Shape;121;p13"/>
          <p:cNvSpPr txBox="1"/>
          <p:nvPr/>
        </p:nvSpPr>
        <p:spPr>
          <a:xfrm>
            <a:off x="7889081" y="311646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Risco Moderado • Operação padrão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8077200" y="3426022"/>
            <a:ext cx="27217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Faixa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 (FX-D)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~ 4,5%</a:t>
            </a:r>
            <a:endParaRPr dirty="0"/>
          </a:p>
        </p:txBody>
      </p:sp>
      <p:sp>
        <p:nvSpPr>
          <p:cNvPr id="123" name="Google Shape;123;p13"/>
          <p:cNvSpPr txBox="1"/>
          <p:nvPr/>
        </p:nvSpPr>
        <p:spPr>
          <a:xfrm>
            <a:off x="7889081" y="359271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Atenção • Ajuste de garantias sugerido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8051006" y="3876125"/>
            <a:ext cx="27598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Faixa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 (FX-E)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~ 7,2%</a:t>
            </a:r>
            <a:endParaRPr dirty="0"/>
          </a:p>
        </p:txBody>
      </p:sp>
      <p:sp>
        <p:nvSpPr>
          <p:cNvPr id="125" name="Google Shape;125;p13"/>
          <p:cNvSpPr txBox="1"/>
          <p:nvPr/>
        </p:nvSpPr>
        <p:spPr>
          <a:xfrm>
            <a:off x="7889081" y="406896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Alto Risco • Esteira manual recomendada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8051006" y="4366593"/>
            <a:ext cx="27217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Faixa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 (FX-F)</a:t>
            </a:r>
            <a:endParaRPr dirty="0"/>
          </a:p>
        </p:txBody>
      </p:sp>
      <p:sp>
        <p:nvSpPr>
          <p:cNvPr id="127" name="Google Shape;127;p13"/>
          <p:cNvSpPr txBox="1"/>
          <p:nvPr/>
        </p:nvSpPr>
        <p:spPr>
          <a:xfrm>
            <a:off x="7908131" y="4564260"/>
            <a:ext cx="35504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 &gt; 12,0% • Recusa Automática</a:t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614362" y="2625923"/>
            <a:ext cx="2183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787997" y="22925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2797522" y="2625923"/>
            <a:ext cx="26745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5462587" y="22925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5472112" y="2625923"/>
            <a:ext cx="17168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7179468" y="22925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614362" y="2968823"/>
            <a:ext cx="2183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2787997" y="26354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2797522" y="2968823"/>
            <a:ext cx="26745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5462587" y="26354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5472112" y="2968823"/>
            <a:ext cx="17168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7179468" y="26354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614362" y="3311723"/>
            <a:ext cx="2183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2787997" y="29783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2797522" y="3311723"/>
            <a:ext cx="26745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5462587" y="29783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5472112" y="3311723"/>
            <a:ext cx="17168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7179468" y="29783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614362" y="3654623"/>
            <a:ext cx="2183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2787997" y="33212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2797522" y="3654623"/>
            <a:ext cx="26745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5462587" y="33212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5472112" y="3654623"/>
            <a:ext cx="17168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7179468" y="33212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614362" y="3997523"/>
            <a:ext cx="2183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2787997" y="36641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2797522" y="3997523"/>
            <a:ext cx="26745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5462587" y="36641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5472112" y="3997523"/>
            <a:ext cx="17168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7179468" y="36641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753725" y="4407098"/>
            <a:ext cx="7048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889081" y="20210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3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889081" y="249733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3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889081" y="2973585"/>
            <a:ext cx="1047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3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889081" y="344983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3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889081" y="39260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3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908131" y="44213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4;p14" descr="image.png">
            <a:extLst>
              <a:ext uri="{FF2B5EF4-FFF2-40B4-BE49-F238E27FC236}">
                <a16:creationId xmlns:a16="http://schemas.microsoft.com/office/drawing/2014/main" id="{0775EA30-5298-3E48-0DF5-22F71117F1EF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00087" y="377521"/>
            <a:ext cx="1937593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6;p13" descr="image.png">
            <a:extLst>
              <a:ext uri="{FF2B5EF4-FFF2-40B4-BE49-F238E27FC236}">
                <a16:creationId xmlns:a16="http://schemas.microsoft.com/office/drawing/2014/main" id="{DB1DA1D6-C49D-CF9B-C560-6C4873937C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523" y="1401961"/>
            <a:ext cx="7042308" cy="4198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3806" y="1421010"/>
            <a:ext cx="4179093" cy="4179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" y="5734050"/>
            <a:ext cx="36957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8150" y="5734050"/>
            <a:ext cx="36957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77200" y="5734050"/>
            <a:ext cx="36957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0075" y="1935360"/>
            <a:ext cx="6603206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74781" y="193536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74781" y="241161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74781" y="288786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74781" y="336411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74781" y="384036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74781" y="4316610"/>
            <a:ext cx="3817143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4"/>
          <p:cNvSpPr txBox="1"/>
          <p:nvPr/>
        </p:nvSpPr>
        <p:spPr>
          <a:xfrm>
            <a:off x="9791700" y="342900"/>
            <a:ext cx="1981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Portfólio: Produto X (Ativos Físicos)</a:t>
            </a: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Diretoria de Riscos &amp; Modelagem</a:t>
            </a:r>
            <a:endParaRPr/>
          </a:p>
        </p:txBody>
      </p:sp>
      <p:pic>
        <p:nvPicPr>
          <p:cNvPr id="184" name="Google Shape;184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26864" y="371474"/>
            <a:ext cx="1937593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4"/>
          <p:cNvSpPr txBox="1"/>
          <p:nvPr/>
        </p:nvSpPr>
        <p:spPr>
          <a:xfrm>
            <a:off x="419100" y="600075"/>
            <a:ext cx="8091011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Matriz de Decisão &amp; Faixas de Risco — Operação Secundária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419100" y="925710"/>
            <a:ext cx="77057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Cruzamento dos modelos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Alfa</a:t>
            </a:r>
            <a:r>
              <a:rPr lang="en-US" sz="10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vs.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Beta</a:t>
            </a:r>
            <a:r>
              <a:rPr lang="en-US" sz="10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para definição das faixas de risco (FX) no portfólio.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561975" y="5838825"/>
            <a:ext cx="358044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PÚBLICO VALIDADO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561975" y="6038850"/>
            <a:ext cx="340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Operação Secundária (Produto X)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4391025" y="5838825"/>
            <a:ext cx="358044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MODELO DE DECISÃO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4391025" y="6038850"/>
            <a:ext cx="340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Matriz Cruzada Alfa x Beta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8220075" y="5838825"/>
            <a:ext cx="358044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ESTRATÉGIA DE RECUSA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8220075" y="6038850"/>
            <a:ext cx="340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Recusa Automatizada na Faixa F (Corte Seco)</a:t>
            </a:r>
            <a:endParaRPr/>
          </a:p>
        </p:txBody>
      </p:sp>
      <p:pic>
        <p:nvPicPr>
          <p:cNvPr id="193" name="Google Shape;193;p1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14350" y="409575"/>
            <a:ext cx="112514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4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0075" y="1630560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4"/>
          <p:cNvSpPr txBox="1"/>
          <p:nvPr/>
        </p:nvSpPr>
        <p:spPr>
          <a:xfrm>
            <a:off x="857250" y="1601985"/>
            <a:ext cx="42805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Matriz Modelo Alfa vs. Modelo Beta (Mapeamento FX)</a:t>
            </a:r>
            <a:endParaRPr/>
          </a:p>
        </p:txBody>
      </p:sp>
      <p:graphicFrame>
        <p:nvGraphicFramePr>
          <p:cNvPr id="197" name="Google Shape;197;p14"/>
          <p:cNvGraphicFramePr/>
          <p:nvPr/>
        </p:nvGraphicFramePr>
        <p:xfrm>
          <a:off x="609600" y="1944885"/>
          <a:ext cx="6574625" cy="1895425"/>
        </p:xfrm>
        <a:graphic>
          <a:graphicData uri="http://schemas.openxmlformats.org/drawingml/2006/table">
            <a:tbl>
              <a:tblPr firstRow="1" bandRow="1">
                <a:noFill/>
                <a:tableStyleId>{A024E403-B34E-4349-86C8-06DBE12FC7C8}</a:tableStyleId>
              </a:tblPr>
              <a:tblGrid>
                <a:gridCol w="211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Mod. Alfa \ Mod. Beta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 – 30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31 – 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51 – 70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71 – 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&gt; 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Alfa 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Alfa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Alfa 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Alfa 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Alfa 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Alfa 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98" name="Google Shape;198;p14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774781" y="1630560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4"/>
          <p:cNvSpPr txBox="1"/>
          <p:nvPr/>
        </p:nvSpPr>
        <p:spPr>
          <a:xfrm>
            <a:off x="8031956" y="1601985"/>
            <a:ext cx="35604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Detalhamento das Saídas (Faixas de Risco)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8031956" y="2002035"/>
            <a:ext cx="318849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FX-A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0,0%</a:t>
            </a:r>
            <a:endParaRPr dirty="0"/>
          </a:p>
        </p:txBody>
      </p:sp>
      <p:sp>
        <p:nvSpPr>
          <p:cNvPr id="201" name="Google Shape;201;p14"/>
          <p:cNvSpPr txBox="1"/>
          <p:nvPr/>
        </p:nvSpPr>
        <p:spPr>
          <a:xfrm>
            <a:off x="7889081" y="216396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Aprovação Automática • Perfil Prime (Alfa A/B + Beta baixo)</a:t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8043711" y="2478285"/>
            <a:ext cx="319801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FX-B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Até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1,5%</a:t>
            </a:r>
            <a:endParaRPr dirty="0"/>
          </a:p>
        </p:txBody>
      </p:sp>
      <p:sp>
        <p:nvSpPr>
          <p:cNvPr id="203" name="Google Shape;203;p14"/>
          <p:cNvSpPr txBox="1"/>
          <p:nvPr/>
        </p:nvSpPr>
        <p:spPr>
          <a:xfrm>
            <a:off x="7889081" y="264021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Risco Baixo • Alta conversão e aprovação fluida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8038948" y="2949772"/>
            <a:ext cx="320754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FX-C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1,6% a 3,0%</a:t>
            </a:r>
            <a:endParaRPr dirty="0"/>
          </a:p>
        </p:txBody>
      </p:sp>
      <p:sp>
        <p:nvSpPr>
          <p:cNvPr id="205" name="Google Shape;205;p14"/>
          <p:cNvSpPr txBox="1"/>
          <p:nvPr/>
        </p:nvSpPr>
        <p:spPr>
          <a:xfrm>
            <a:off x="7889081" y="311646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Risco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Moderado</a:t>
            </a: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• Taxa de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aprovação</a:t>
            </a: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padrão</a:t>
            </a: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de mercado</a:t>
            </a:r>
            <a:endParaRPr dirty="0"/>
          </a:p>
        </p:txBody>
      </p:sp>
      <p:sp>
        <p:nvSpPr>
          <p:cNvPr id="206" name="Google Shape;206;p14"/>
          <p:cNvSpPr txBox="1"/>
          <p:nvPr/>
        </p:nvSpPr>
        <p:spPr>
          <a:xfrm>
            <a:off x="8031956" y="3411735"/>
            <a:ext cx="318849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FX-D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3,1% a 5,5%</a:t>
            </a:r>
            <a:endParaRPr dirty="0"/>
          </a:p>
        </p:txBody>
      </p:sp>
      <p:sp>
        <p:nvSpPr>
          <p:cNvPr id="207" name="Google Shape;207;p14"/>
          <p:cNvSpPr txBox="1"/>
          <p:nvPr/>
        </p:nvSpPr>
        <p:spPr>
          <a:xfrm>
            <a:off x="7889081" y="359271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Atenção / Precificação • Necessita ajuste de spread/garantia</a:t>
            </a:r>
            <a:endParaRPr/>
          </a:p>
        </p:txBody>
      </p:sp>
      <p:sp>
        <p:nvSpPr>
          <p:cNvPr id="208" name="Google Shape;208;p14"/>
          <p:cNvSpPr txBox="1"/>
          <p:nvPr/>
        </p:nvSpPr>
        <p:spPr>
          <a:xfrm>
            <a:off x="7993856" y="3899891"/>
            <a:ext cx="320754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FX-E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5,6% a 10,0%</a:t>
            </a:r>
            <a:endParaRPr dirty="0"/>
          </a:p>
        </p:txBody>
      </p:sp>
      <p:sp>
        <p:nvSpPr>
          <p:cNvPr id="209" name="Google Shape;209;p14"/>
          <p:cNvSpPr txBox="1"/>
          <p:nvPr/>
        </p:nvSpPr>
        <p:spPr>
          <a:xfrm>
            <a:off x="7889081" y="406896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Alto Risco •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Análise</a:t>
            </a: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manual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restritiva</a:t>
            </a: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/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Limite</a:t>
            </a: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ajustado</a:t>
            </a:r>
            <a:endParaRPr dirty="0"/>
          </a:p>
        </p:txBody>
      </p:sp>
      <p:sp>
        <p:nvSpPr>
          <p:cNvPr id="210" name="Google Shape;210;p14"/>
          <p:cNvSpPr txBox="1"/>
          <p:nvPr/>
        </p:nvSpPr>
        <p:spPr>
          <a:xfrm>
            <a:off x="8041480" y="4383285"/>
            <a:ext cx="316944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FX-F</a:t>
            </a:r>
            <a:endParaRPr dirty="0"/>
          </a:p>
        </p:txBody>
      </p:sp>
      <p:sp>
        <p:nvSpPr>
          <p:cNvPr id="211" name="Google Shape;211;p14"/>
          <p:cNvSpPr txBox="1"/>
          <p:nvPr/>
        </p:nvSpPr>
        <p:spPr>
          <a:xfrm>
            <a:off x="7908131" y="4564260"/>
            <a:ext cx="35504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 &gt; 10,0% • Recusa automática no motor de crédito</a:t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614362" y="2492573"/>
            <a:ext cx="211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614362" y="2235398"/>
            <a:ext cx="21100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614362" y="2235398"/>
            <a:ext cx="952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2714922" y="2235398"/>
            <a:ext cx="9525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614362" y="2759273"/>
            <a:ext cx="211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614362" y="2502098"/>
            <a:ext cx="21100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614362" y="2502098"/>
            <a:ext cx="952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2714922" y="2502098"/>
            <a:ext cx="9525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614362" y="3025973"/>
            <a:ext cx="211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614362" y="2768798"/>
            <a:ext cx="21100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614362" y="2768798"/>
            <a:ext cx="952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2714922" y="2768798"/>
            <a:ext cx="9525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614362" y="3292673"/>
            <a:ext cx="211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614362" y="3035498"/>
            <a:ext cx="21100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614362" y="3035498"/>
            <a:ext cx="952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2714922" y="3035498"/>
            <a:ext cx="9525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614362" y="3559373"/>
            <a:ext cx="211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614362" y="3302198"/>
            <a:ext cx="21100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614362" y="3302198"/>
            <a:ext cx="952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2714922" y="3302198"/>
            <a:ext cx="9525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614362" y="3826073"/>
            <a:ext cx="211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614362" y="3568898"/>
            <a:ext cx="21100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614362" y="3568898"/>
            <a:ext cx="952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2714922" y="3568898"/>
            <a:ext cx="9525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4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753725" y="4407098"/>
            <a:ext cx="7048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4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889081" y="20210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4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889081" y="249733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4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889081" y="2973585"/>
            <a:ext cx="1047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4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889081" y="344983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4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889081" y="39260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4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908131" y="4421385"/>
            <a:ext cx="114300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6132314"/>
            <a:ext cx="11582400" cy="497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36774"/>
            <a:ext cx="23145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82312" y="238125"/>
            <a:ext cx="1004887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4800" y="1117252"/>
            <a:ext cx="26670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4800" y="3288952"/>
            <a:ext cx="2667000" cy="2729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24200" y="1307752"/>
            <a:ext cx="87630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24200" y="1898302"/>
            <a:ext cx="87630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24200" y="2488852"/>
            <a:ext cx="87630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24200" y="3079402"/>
            <a:ext cx="87630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24200" y="3677691"/>
            <a:ext cx="87630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7675" y="1612552"/>
            <a:ext cx="23812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7675" y="1907827"/>
            <a:ext cx="2381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7675" y="2222152"/>
            <a:ext cx="23812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47675" y="2517427"/>
            <a:ext cx="23812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47675" y="2812702"/>
            <a:ext cx="23812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384553" y="1617315"/>
            <a:ext cx="2307728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384553" y="2207865"/>
            <a:ext cx="2307728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384553" y="2798415"/>
            <a:ext cx="2307728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384553" y="3388965"/>
            <a:ext cx="2307728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384553" y="3979515"/>
            <a:ext cx="2307728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384553" y="1617315"/>
            <a:ext cx="1961554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384553" y="2207865"/>
            <a:ext cx="1730722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384553" y="2798415"/>
            <a:ext cx="2076896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384553" y="3388965"/>
            <a:ext cx="1153864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304800" y="504825"/>
            <a:ext cx="11887200" cy="33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725" b="0" i="0" u="none" strike="noStrike" kern="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SUR Camada 2: </a:t>
            </a:r>
            <a:r>
              <a:rPr kumimoji="0" lang="en-US" sz="1725" b="0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Otimização</a:t>
            </a:r>
            <a:r>
              <a:rPr kumimoji="0" lang="en-US" sz="1725" b="0" i="0" u="none" strike="noStrike" kern="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kumimoji="0" lang="en-US" sz="1725" b="0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por</a:t>
            </a:r>
            <a:r>
              <a:rPr kumimoji="0" lang="en-US" sz="1725" b="0" i="0" u="none" strike="noStrike" kern="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kumimoji="0" lang="en-US" sz="1725" b="0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classificação</a:t>
            </a:r>
            <a:r>
              <a:rPr kumimoji="0" lang="en-US" sz="1725" b="0" i="0" u="none" strike="noStrike" kern="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Pessoa e </a:t>
            </a:r>
            <a:r>
              <a:rPr kumimoji="0" lang="en-US" sz="1725" b="0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Concessão</a:t>
            </a:r>
            <a:r>
              <a:rPr kumimoji="0" lang="en-US" sz="1725" b="0" i="0" u="none" strike="noStrike" kern="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de Risco (CR)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04800" y="835818"/>
            <a:ext cx="11582400" cy="16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4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75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 </a:t>
            </a:r>
            <a:r>
              <a:rPr kumimoji="0" lang="en-US" sz="975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aplicação</a:t>
            </a:r>
            <a:r>
              <a:rPr kumimoji="0" lang="en-US" sz="975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da </a:t>
            </a:r>
            <a:r>
              <a:rPr kumimoji="0" lang="en-US" sz="975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segunda</a:t>
            </a:r>
            <a:r>
              <a:rPr kumimoji="0" lang="en-US" sz="975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camada permite </a:t>
            </a:r>
            <a:r>
              <a:rPr kumimoji="0" lang="en-US" sz="975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flexibilizar</a:t>
            </a:r>
            <a:r>
              <a:rPr kumimoji="0" lang="en-US" sz="975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a nota de corte (downgrade do SUR) com base no </a:t>
            </a:r>
            <a:r>
              <a:rPr kumimoji="0" lang="en-US" sz="975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perfil</a:t>
            </a:r>
            <a:r>
              <a:rPr kumimoji="0" lang="en-US" sz="975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comportamental, </a:t>
            </a:r>
            <a:r>
              <a:rPr kumimoji="0" lang="en-US" sz="975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maximizando</a:t>
            </a:r>
            <a:r>
              <a:rPr kumimoji="0" lang="en-US" sz="975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a </a:t>
            </a:r>
            <a:r>
              <a:rPr kumimoji="0" lang="en-US" sz="975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conversão</a:t>
            </a:r>
            <a:r>
              <a:rPr kumimoji="0" lang="en-US" sz="975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com </a:t>
            </a:r>
            <a:r>
              <a:rPr kumimoji="0" lang="en-US" sz="975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oferta</a:t>
            </a:r>
            <a:r>
              <a:rPr kumimoji="0" lang="en-US" sz="975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kumimoji="0" lang="en-US" sz="975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personalizada</a:t>
            </a:r>
            <a:r>
              <a:rPr kumimoji="0" lang="en-US" sz="975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de </a:t>
            </a:r>
            <a:r>
              <a:rPr kumimoji="0" lang="en-US" sz="975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crédito</a:t>
            </a:r>
            <a:r>
              <a:rPr kumimoji="0" lang="en-US" sz="975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3238500" y="1117252"/>
            <a:ext cx="85344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NICHO ANALISADO FLEXIBILIZAÇÃO SUR GANHO DE SAÍDA (PERFORMANCE) OFERTA DE CR PROPOSTA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2" name="Google Shape;112;p13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476250" y="622845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849471" y="6175159"/>
            <a:ext cx="10969307" cy="371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62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Conclusão</a:t>
            </a:r>
            <a:r>
              <a:rPr kumimoji="0" lang="en-US" sz="862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862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Executiva</a:t>
            </a:r>
            <a:r>
              <a:rPr kumimoji="0" lang="en-US" sz="862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A Camada 2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transforma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o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modelo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tradicional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ao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permitir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o </a:t>
            </a:r>
            <a:r>
              <a:rPr kumimoji="0" lang="en-US" sz="862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downgrade </a:t>
            </a:r>
            <a:r>
              <a:rPr kumimoji="0" lang="en-US" sz="862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controlado</a:t>
            </a:r>
            <a:r>
              <a:rPr kumimoji="0" lang="en-US" sz="862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de SUR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para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nichos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estratégicos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capturando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maior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volume e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melhorando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as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métricas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saída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com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ofertas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862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direcionadas</a:t>
            </a:r>
            <a:r>
              <a:rPr kumimoji="0" lang="en-US" sz="862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de CR.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5" name="Google Shape;115;p13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409575" y="285750"/>
            <a:ext cx="109537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0943272" y="285749"/>
            <a:ext cx="119062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 txBox="1"/>
          <p:nvPr/>
        </p:nvSpPr>
        <p:spPr>
          <a:xfrm>
            <a:off x="428625" y="3612802"/>
            <a:ext cx="2419350" cy="36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25" b="0" i="0" u="none" strike="noStrike" kern="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Latamsji</a:t>
            </a:r>
            <a:r>
              <a:rPr kumimoji="0" lang="en-US" sz="825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kumimoji="0" lang="en-US" sz="825" b="0" i="0" u="none" strike="noStrike" kern="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idjhighoiga</a:t>
            </a:r>
            <a:r>
              <a:rPr kumimoji="0" lang="en-US" sz="825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kumimoji="0" lang="en-US" sz="825" b="0" i="0" u="none" strike="noStrike" kern="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ijhGIOHJgi</a:t>
            </a:r>
            <a:r>
              <a:rPr kumimoji="0" lang="en-US" sz="825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kumimoji="0" lang="en-US" sz="825" b="0" i="0" u="none" strike="noStrike" kern="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GHIgh</a:t>
            </a:r>
            <a:r>
              <a:rPr kumimoji="0" lang="en-US" sz="825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GH09Pnipi GJ0GJH9jh gJ09HJ09G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8" name="Google Shape;118;p13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571500" y="6304657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447675" y="1322040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/>
        </p:nvSpPr>
        <p:spPr>
          <a:xfrm>
            <a:off x="552449" y="1964977"/>
            <a:ext cx="765073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25" b="1" i="0" u="none" strike="noStrike" kern="0" cap="none" spc="0" normalizeH="0" baseline="0" noProof="0" dirty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SUR 12 - 11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2190750" y="1964977"/>
            <a:ext cx="53340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25" b="1" i="0" u="none" strike="noStrike" kern="0" cap="none" spc="0" normalizeH="0" baseline="0" noProof="0" dirty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Excelente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2" name="Google Shape;122;p13" descr="image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428625" y="3427065"/>
            <a:ext cx="13335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/>
        </p:nvSpPr>
        <p:spPr>
          <a:xfrm>
            <a:off x="638175" y="3412777"/>
            <a:ext cx="1200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Conceito Downgrade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4" name="Google Shape;124;p13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3267075" y="141252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3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5810250" y="1483965"/>
            <a:ext cx="45720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3" descr="image.png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324600" y="1517302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3" descr="image.png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6467475" y="1483965"/>
            <a:ext cx="43815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3"/>
          <p:cNvSpPr txBox="1"/>
          <p:nvPr/>
        </p:nvSpPr>
        <p:spPr>
          <a:xfrm>
            <a:off x="7384553" y="1455390"/>
            <a:ext cx="230772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Aumento na Aprovação</a:t>
            </a: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+42%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9806582" y="1426815"/>
            <a:ext cx="193774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37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R$ 50k – R$ 120k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9806582" y="1588740"/>
            <a:ext cx="1937742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12" b="0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CR PREMIUM ALTO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31" name="Google Shape;131;p13" descr="image.png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3267075" y="200307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5810250" y="2074515"/>
            <a:ext cx="45720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 descr="image.png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324600" y="2107852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 descr="image.png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6467475" y="2074515"/>
            <a:ext cx="43815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7384553" y="2045940"/>
            <a:ext cx="230772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Aumento na Conversão</a:t>
            </a: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+38%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9806582" y="2017365"/>
            <a:ext cx="193774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37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R$ 35k – R$ 80k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9806582" y="2179290"/>
            <a:ext cx="1937742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12" b="0" i="0" u="none" strike="noStrike" kern="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CR CONSIGNADO / ESTÁVEL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38" name="Google Shape;138;p13" descr="image.png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3267075" y="259362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5810250" y="2665065"/>
            <a:ext cx="45720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 descr="image.png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6324600" y="2698402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 descr="image.png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6467475" y="2665065"/>
            <a:ext cx="43815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3"/>
          <p:cNvSpPr txBox="1"/>
          <p:nvPr/>
        </p:nvSpPr>
        <p:spPr>
          <a:xfrm>
            <a:off x="7384553" y="2636490"/>
            <a:ext cx="230772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7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Eficiência</a:t>
            </a:r>
            <a:r>
              <a:rPr kumimoji="0" lang="en-US" sz="787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de </a:t>
            </a:r>
            <a:r>
              <a:rPr kumimoji="0" lang="en-US" sz="787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Captação</a:t>
            </a:r>
            <a:r>
              <a:rPr kumimoji="0" lang="en-US" sz="787" b="0" i="0" u="none" strike="noStrike" kern="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787" b="0" i="0" u="none" strike="noStrike" kern="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+45%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9806582" y="2607915"/>
            <a:ext cx="193774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37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R$ 60k – R$ 200k+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9806582" y="2769840"/>
            <a:ext cx="1937742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12" b="0" i="0" u="none" strike="noStrike" kern="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CR CUSTOMIZADO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5" name="Google Shape;145;p13" descr="image.png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3267075" y="318417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 descr="image.png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5810250" y="3255615"/>
            <a:ext cx="45720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 descr="image.png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6324600" y="3288952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 descr="image.png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6467475" y="3255615"/>
            <a:ext cx="45720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3"/>
          <p:cNvSpPr txBox="1"/>
          <p:nvPr/>
        </p:nvSpPr>
        <p:spPr>
          <a:xfrm>
            <a:off x="7384553" y="3227040"/>
            <a:ext cx="230772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Inclusão de Novos Clientes</a:t>
            </a: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+25%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9806582" y="3198465"/>
            <a:ext cx="193774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37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R$ 10k – R$ 25k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9806582" y="3360390"/>
            <a:ext cx="1937742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12" b="0" i="0" u="none" strike="noStrike" kern="0" cap="none" spc="0" normalizeH="0" baseline="0" noProof="0">
                <a:ln>
                  <a:noFill/>
                </a:ln>
                <a:solidFill>
                  <a:srgbClr val="9333E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CR ESCALÁVEL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2" name="Google Shape;152;p13" descr="image.png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3267075" y="377472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3" descr="image.png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5810250" y="3846165"/>
            <a:ext cx="45720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3" descr="image.png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6324600" y="3879502"/>
            <a:ext cx="762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3" descr="image.png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6457950" y="3846165"/>
            <a:ext cx="7905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3"/>
          <p:cNvSpPr txBox="1"/>
          <p:nvPr/>
        </p:nvSpPr>
        <p:spPr>
          <a:xfrm>
            <a:off x="7384553" y="3817590"/>
            <a:ext cx="230772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Performance Padrão</a:t>
            </a: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Baseline (0%)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9806582" y="3789015"/>
            <a:ext cx="193774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37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R$ 5k – R$ 15k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9806582" y="3950940"/>
            <a:ext cx="1937742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12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CR PADRÃO DA RÉGUA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657225" y="1260127"/>
            <a:ext cx="11906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75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Escala SUR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657225" y="1393477"/>
            <a:ext cx="1598295" cy="121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7" b="0" i="0" u="none" strike="noStrike" kern="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Níveis Globais do Modelo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1" name="Google Shape;161;p13" descr="image.png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3362325" y="1498252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3"/>
          <p:cNvSpPr txBox="1"/>
          <p:nvPr/>
        </p:nvSpPr>
        <p:spPr>
          <a:xfrm>
            <a:off x="3667125" y="1426815"/>
            <a:ext cx="1447800" cy="144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37" b="0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Engenheiro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3667125" y="1579215"/>
            <a:ext cx="144780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Alta capacidade &amp; estabilidade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4" name="Google Shape;164;p13" descr="image.png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3352800" y="2088802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 txBox="1"/>
          <p:nvPr/>
        </p:nvSpPr>
        <p:spPr>
          <a:xfrm>
            <a:off x="3667125" y="2017365"/>
            <a:ext cx="1362075" cy="144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37" b="0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Executivo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3667125" y="2169765"/>
            <a:ext cx="1362075" cy="242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7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Previsibilidade</a:t>
            </a:r>
            <a:r>
              <a:rPr kumimoji="0" lang="en-US" sz="787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&amp; </a:t>
            </a:r>
            <a:r>
              <a:rPr kumimoji="0" lang="en-US" sz="787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estabilidade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7" name="Google Shape;167;p13" descr="image.png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3352800" y="2679352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3"/>
          <p:cNvSpPr txBox="1"/>
          <p:nvPr/>
        </p:nvSpPr>
        <p:spPr>
          <a:xfrm>
            <a:off x="3667125" y="2607915"/>
            <a:ext cx="9906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37" b="0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Investidor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3667124" y="2760315"/>
            <a:ext cx="1140323" cy="121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7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Patrimônio</a:t>
            </a:r>
            <a:r>
              <a:rPr kumimoji="0" lang="en-US" sz="787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&amp; </a:t>
            </a:r>
            <a:r>
              <a:rPr kumimoji="0" lang="en-US" sz="787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liquidez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0" name="Google Shape;170;p13" descr="image.png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3333750" y="3269902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3"/>
          <p:cNvSpPr txBox="1"/>
          <p:nvPr/>
        </p:nvSpPr>
        <p:spPr>
          <a:xfrm>
            <a:off x="3667125" y="3198465"/>
            <a:ext cx="981075" cy="144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37" b="0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Academico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3667125" y="3350865"/>
            <a:ext cx="98107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7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Alto LTV futuro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3" name="Google Shape;173;p13" descr="image.png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3333750" y="3860452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3"/>
          <p:cNvSpPr txBox="1"/>
          <p:nvPr/>
        </p:nvSpPr>
        <p:spPr>
          <a:xfrm>
            <a:off x="3667125" y="3789015"/>
            <a:ext cx="135255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Público geral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3667125" y="3941415"/>
            <a:ext cx="1619250" cy="121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7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Público </a:t>
            </a:r>
            <a:r>
              <a:rPr kumimoji="0" lang="en-US" sz="787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sem</a:t>
            </a:r>
            <a:r>
              <a:rPr kumimoji="0" lang="en-US" sz="787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kumimoji="0" lang="en-US" sz="787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nicho</a:t>
            </a:r>
            <a:r>
              <a:rPr kumimoji="0" lang="en-US" sz="787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kumimoji="0" lang="en-US" sz="787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específico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7384553" y="3979515"/>
            <a:ext cx="461516" cy="571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3" descr="image.png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9273182" y="1467296"/>
            <a:ext cx="104775" cy="10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3" descr="image.png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9273182" y="2057846"/>
            <a:ext cx="104775" cy="10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3" descr="image.png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9273182" y="2648396"/>
            <a:ext cx="104775" cy="10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3" descr="image.png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9282707" y="3238946"/>
            <a:ext cx="104775" cy="10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734</Words>
  <Application>Microsoft Office PowerPoint</Application>
  <PresentationFormat>Widescreen</PresentationFormat>
  <Paragraphs>148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3" baseType="lpstr">
      <vt:lpstr>Poppins</vt:lpstr>
      <vt:lpstr>Plus Jakarta Sans ExtraBold</vt:lpstr>
      <vt:lpstr>Poppins SemiBold</vt:lpstr>
      <vt:lpstr>Plus Jakarta Sans</vt:lpstr>
      <vt:lpstr>Calibri</vt:lpstr>
      <vt:lpstr>Lato</vt:lpstr>
      <vt:lpstr>Arial</vt:lpstr>
      <vt:lpstr>Plus Jakarta Sans SemiBold</vt:lpstr>
      <vt:lpstr>Plus Jakarta Sans Medium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jonathan alves</dc:creator>
  <cp:lastModifiedBy>jonathan alves</cp:lastModifiedBy>
  <cp:revision>3</cp:revision>
  <dcterms:modified xsi:type="dcterms:W3CDTF">2026-07-24T10:31:53Z</dcterms:modified>
</cp:coreProperties>
</file>