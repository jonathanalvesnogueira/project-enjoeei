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SemiBold" panose="000007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24E403-B34E-4349-86C8-06DBE12FC7C8}">
  <a:tblStyle styleId="{A024E403-B34E-4349-86C8-06DBE12FC7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20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0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2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6;p13" descr="image.png">
            <a:extLst>
              <a:ext uri="{FF2B5EF4-FFF2-40B4-BE49-F238E27FC236}">
                <a16:creationId xmlns:a16="http://schemas.microsoft.com/office/drawing/2014/main" id="{1E479156-59DF-5B45-5191-A30056354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3" y="1401961"/>
            <a:ext cx="7042308" cy="419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806" y="1421010"/>
            <a:ext cx="4179093" cy="417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815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1935360"/>
            <a:ext cx="6603206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74781" y="1935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4781" y="24116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4781" y="28878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74781" y="33641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4781" y="3840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4781" y="4316610"/>
            <a:ext cx="381714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791700" y="342900"/>
            <a:ext cx="1981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Portfólio: Produto X (Ativos Físicos)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Diretoria de Riscos &amp; Modelagem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19100" y="600075"/>
            <a:ext cx="826103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Novo Modelo de Scoring — Operação Secundária (Produto X)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19100" y="925710"/>
            <a:ext cx="7867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Financiamento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Ativos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Físicos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: Alta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capacidade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discriminação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ordenamento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risco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5619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PÚBLICO VALIDADO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619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Operação Secundária (Produto X)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39102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 ESTIMADO NA APROVAÇÃO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39102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+14% de Volume com Risco Controlado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2200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ESTRATÉGIA DE RECUSA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82200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Recusa Automatizada na Faixa F (Corte Seco)</a:t>
            </a:r>
            <a:endParaRPr/>
          </a:p>
        </p:txBody>
      </p:sp>
      <p:pic>
        <p:nvPicPr>
          <p:cNvPr id="109" name="Google Shape;109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4350" y="409575"/>
            <a:ext cx="11251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0075" y="1630560"/>
            <a:ext cx="2000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895350" y="1601985"/>
            <a:ext cx="47205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de Desempenho: Modelo Novo vs. Modelo Anterior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609600" y="1944885"/>
            <a:ext cx="6584156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13"/>
          <p:cNvGraphicFramePr/>
          <p:nvPr/>
        </p:nvGraphicFramePr>
        <p:xfrm>
          <a:off x="609600" y="1944885"/>
          <a:ext cx="6574625" cy="2066875"/>
        </p:xfrm>
        <a:graphic>
          <a:graphicData uri="http://schemas.openxmlformats.org/drawingml/2006/table">
            <a:tbl>
              <a:tblPr firstRow="1" bandRow="1">
                <a:noFill/>
                <a:tableStyleId>{A024E403-B34E-4349-86C8-06DBE12FC7C8}</a:tableStyleId>
              </a:tblPr>
              <a:tblGrid>
                <a:gridCol w="21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Atributo / Métrica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Novo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Anterior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Público-Alvo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Produto X (Ativos Específicos)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Produto X (Genérico)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Poder Discriminatório (KS)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48.2% (+12.4 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Coeficiente Gini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62.5% (+15.1 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47.4%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Variáveis Chave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Renda, Restritivos, Comportamental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Bureau Tradicional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Taxa de Inadimplência Média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3.2% (Carteira Teste)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4" name="Google Shape;114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74781" y="1630560"/>
            <a:ext cx="1809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8051006" y="1601985"/>
            <a:ext cx="35004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Clusterização das Saídas (Faixas de Risco)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8060532" y="1989973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 (FX-A)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Até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1,0%</a:t>
            </a:r>
            <a:endParaRPr dirty="0"/>
          </a:p>
        </p:txBody>
      </p:sp>
      <p:sp>
        <p:nvSpPr>
          <p:cNvPr id="117" name="Google Shape;117;p13"/>
          <p:cNvSpPr txBox="1"/>
          <p:nvPr/>
        </p:nvSpPr>
        <p:spPr>
          <a:xfrm>
            <a:off x="7889081" y="2163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Perfil Prime • Menor probabilidade de default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077200" y="2467307"/>
            <a:ext cx="27408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B (FX-B)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1,8%</a:t>
            </a:r>
            <a:endParaRPr dirty="0"/>
          </a:p>
        </p:txBody>
      </p:sp>
      <p:sp>
        <p:nvSpPr>
          <p:cNvPr id="119" name="Google Shape;119;p13"/>
          <p:cNvSpPr txBox="1"/>
          <p:nvPr/>
        </p:nvSpPr>
        <p:spPr>
          <a:xfrm>
            <a:off x="7889081" y="26402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Baixo • Alta conversão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8077200" y="2954535"/>
            <a:ext cx="27503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 (FX-C)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2,9%</a:t>
            </a:r>
            <a:endParaRPr dirty="0"/>
          </a:p>
        </p:txBody>
      </p:sp>
      <p:sp>
        <p:nvSpPr>
          <p:cNvPr id="121" name="Google Shape;121;p13"/>
          <p:cNvSpPr txBox="1"/>
          <p:nvPr/>
        </p:nvSpPr>
        <p:spPr>
          <a:xfrm>
            <a:off x="7889081" y="31164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Moderado • Operação padrão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8077200" y="3426022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 (FX-D)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4,5%</a:t>
            </a:r>
            <a:endParaRPr dirty="0"/>
          </a:p>
        </p:txBody>
      </p:sp>
      <p:sp>
        <p:nvSpPr>
          <p:cNvPr id="123" name="Google Shape;123;p13"/>
          <p:cNvSpPr txBox="1"/>
          <p:nvPr/>
        </p:nvSpPr>
        <p:spPr>
          <a:xfrm>
            <a:off x="7889081" y="35927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Atenção • Ajuste de garantias sugerido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8051006" y="3876125"/>
            <a:ext cx="27598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(FX-E)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~ 7,2%</a:t>
            </a:r>
            <a:endParaRPr dirty="0"/>
          </a:p>
        </p:txBody>
      </p:sp>
      <p:sp>
        <p:nvSpPr>
          <p:cNvPr id="125" name="Google Shape;125;p13"/>
          <p:cNvSpPr txBox="1"/>
          <p:nvPr/>
        </p:nvSpPr>
        <p:spPr>
          <a:xfrm>
            <a:off x="7889081" y="4068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Alto Risco • Esteira manual recomendada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8051006" y="4366593"/>
            <a:ext cx="272176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Faixa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 (FX-F)</a:t>
            </a:r>
            <a:endParaRPr dirty="0"/>
          </a:p>
        </p:txBody>
      </p:sp>
      <p:sp>
        <p:nvSpPr>
          <p:cNvPr id="127" name="Google Shape;127;p13"/>
          <p:cNvSpPr txBox="1"/>
          <p:nvPr/>
        </p:nvSpPr>
        <p:spPr>
          <a:xfrm>
            <a:off x="7908131" y="4564260"/>
            <a:ext cx="35504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 &gt; 12,0% • Recusa Automática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14362" y="26259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787997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797522" y="26259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5462587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5472112" y="26259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7179468" y="22925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14362" y="29688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787997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2797522" y="29688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462587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5472112" y="29688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7179468" y="26354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614362" y="33117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2787997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2797522" y="33117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462587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5472112" y="33117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7179468" y="29783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614362" y="36546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787997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797522" y="36546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5462587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472112" y="36546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7179468" y="33212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14362" y="3997523"/>
            <a:ext cx="2183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2787997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2797522" y="3997523"/>
            <a:ext cx="26745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462587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5472112" y="3997523"/>
            <a:ext cx="17168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179468" y="3664148"/>
            <a:ext cx="9525" cy="3429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53725" y="4407098"/>
            <a:ext cx="7048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89081" y="2021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889081" y="24973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889081" y="2973585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34498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3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3926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3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908131" y="44213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4;p14" descr="image.png">
            <a:extLst>
              <a:ext uri="{FF2B5EF4-FFF2-40B4-BE49-F238E27FC236}">
                <a16:creationId xmlns:a16="http://schemas.microsoft.com/office/drawing/2014/main" id="{0775EA30-5298-3E48-0DF5-22F71117F1EF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00087" y="377521"/>
            <a:ext cx="1937593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6;p13" descr="image.png">
            <a:extLst>
              <a:ext uri="{FF2B5EF4-FFF2-40B4-BE49-F238E27FC236}">
                <a16:creationId xmlns:a16="http://schemas.microsoft.com/office/drawing/2014/main" id="{DB1DA1D6-C49D-CF9B-C560-6C4873937C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523" y="1401961"/>
            <a:ext cx="7042308" cy="419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806" y="1421010"/>
            <a:ext cx="4179093" cy="417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815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200" y="5734050"/>
            <a:ext cx="36957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1935360"/>
            <a:ext cx="6603206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74781" y="1935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4781" y="24116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4781" y="28878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74781" y="336411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4781" y="3840360"/>
            <a:ext cx="3817143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4781" y="4316610"/>
            <a:ext cx="3817143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9791700" y="342900"/>
            <a:ext cx="1981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Portfólio: Produto X (Ativos Físicos)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Diretoria de Riscos &amp; Modelagem</a:t>
            </a:r>
            <a:endParaRPr/>
          </a:p>
        </p:txBody>
      </p:sp>
      <p:pic>
        <p:nvPicPr>
          <p:cNvPr id="184" name="Google Shape;184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6864" y="371474"/>
            <a:ext cx="1937593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 txBox="1"/>
          <p:nvPr/>
        </p:nvSpPr>
        <p:spPr>
          <a:xfrm>
            <a:off x="419100" y="600075"/>
            <a:ext cx="809101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Decisão &amp; Faixas de Risco — Operação Secundária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419100" y="925710"/>
            <a:ext cx="7705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Cruzamento dos modelos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Alfa</a:t>
            </a: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vs.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Beta</a:t>
            </a: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para definição das faixas de risco (FX) no portfólio.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619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PÚBLICO VALIDADO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5619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Operação Secundária (Produto X)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439102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MODELO DE DECISÃO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439102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Matriz Cruzada Alfa x Beta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8220075" y="5838825"/>
            <a:ext cx="358044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ESTRATÉGIA DE RECUSA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8220075" y="6038850"/>
            <a:ext cx="340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Recusa Automatizada na Faixa F (Corte Seco)</a:t>
            </a:r>
            <a:endParaRPr/>
          </a:p>
        </p:txBody>
      </p:sp>
      <p:pic>
        <p:nvPicPr>
          <p:cNvPr id="193" name="Google Shape;193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14350" y="409575"/>
            <a:ext cx="11251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0075" y="163056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/>
          <p:nvPr/>
        </p:nvSpPr>
        <p:spPr>
          <a:xfrm>
            <a:off x="857250" y="1601985"/>
            <a:ext cx="42805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Matriz Modelo Alfa vs. Modelo Beta (Mapeamento FX)</a:t>
            </a:r>
            <a:endParaRPr/>
          </a:p>
        </p:txBody>
      </p:sp>
      <p:graphicFrame>
        <p:nvGraphicFramePr>
          <p:cNvPr id="197" name="Google Shape;197;p14"/>
          <p:cNvGraphicFramePr/>
          <p:nvPr/>
        </p:nvGraphicFramePr>
        <p:xfrm>
          <a:off x="609600" y="1944885"/>
          <a:ext cx="6574625" cy="1895425"/>
        </p:xfrm>
        <a:graphic>
          <a:graphicData uri="http://schemas.openxmlformats.org/drawingml/2006/table">
            <a:tbl>
              <a:tblPr firstRow="1" bandRow="1">
                <a:noFill/>
                <a:tableStyleId>{A024E403-B34E-4349-86C8-06DBE12FC7C8}</a:tableStyleId>
              </a:tblPr>
              <a:tblGrid>
                <a:gridCol w="211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Mod. Alfa \ Mod. Beta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– 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 – 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51 – 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71 – 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&gt; 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Alfa 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25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FX-F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8" name="Google Shape;198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74781" y="163056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/>
        </p:nvSpPr>
        <p:spPr>
          <a:xfrm>
            <a:off x="8031956" y="1601985"/>
            <a:ext cx="35604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Detalhamento das Saídas (Faixas de Risco)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8031956" y="2002035"/>
            <a:ext cx="31884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FX-A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0,0%</a:t>
            </a:r>
            <a:endParaRPr dirty="0"/>
          </a:p>
        </p:txBody>
      </p:sp>
      <p:sp>
        <p:nvSpPr>
          <p:cNvPr id="201" name="Google Shape;201;p14"/>
          <p:cNvSpPr txBox="1"/>
          <p:nvPr/>
        </p:nvSpPr>
        <p:spPr>
          <a:xfrm>
            <a:off x="7889081" y="2163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Aprovação Automática • Perfil Prime (Alfa A/B + Beta baixo)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8043711" y="2478285"/>
            <a:ext cx="31980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FX-B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Até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1,5%</a:t>
            </a:r>
            <a:endParaRPr dirty="0"/>
          </a:p>
        </p:txBody>
      </p:sp>
      <p:sp>
        <p:nvSpPr>
          <p:cNvPr id="203" name="Google Shape;203;p14"/>
          <p:cNvSpPr txBox="1"/>
          <p:nvPr/>
        </p:nvSpPr>
        <p:spPr>
          <a:xfrm>
            <a:off x="7889081" y="26402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Baixo • Alta conversão e aprovação fluida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8038948" y="2949772"/>
            <a:ext cx="32075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FX-C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1,6% a 3,0%</a:t>
            </a:r>
            <a:endParaRPr dirty="0"/>
          </a:p>
        </p:txBody>
      </p:sp>
      <p:sp>
        <p:nvSpPr>
          <p:cNvPr id="205" name="Google Shape;205;p14"/>
          <p:cNvSpPr txBox="1"/>
          <p:nvPr/>
        </p:nvSpPr>
        <p:spPr>
          <a:xfrm>
            <a:off x="7889081" y="31164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Risco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Moderado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• Taxa de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aprovação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padrão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mercado</a:t>
            </a:r>
            <a:endParaRPr dirty="0"/>
          </a:p>
        </p:txBody>
      </p:sp>
      <p:sp>
        <p:nvSpPr>
          <p:cNvPr id="206" name="Google Shape;206;p14"/>
          <p:cNvSpPr txBox="1"/>
          <p:nvPr/>
        </p:nvSpPr>
        <p:spPr>
          <a:xfrm>
            <a:off x="8031956" y="3411735"/>
            <a:ext cx="318849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FX-D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3,1% a 5,5%</a:t>
            </a:r>
            <a:endParaRPr dirty="0"/>
          </a:p>
        </p:txBody>
      </p:sp>
      <p:sp>
        <p:nvSpPr>
          <p:cNvPr id="207" name="Google Shape;207;p14"/>
          <p:cNvSpPr txBox="1"/>
          <p:nvPr/>
        </p:nvSpPr>
        <p:spPr>
          <a:xfrm>
            <a:off x="7889081" y="359271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Atenção / Precificação • Necessita ajuste de spread/garantia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7993856" y="3899891"/>
            <a:ext cx="32075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FX-E 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5,6% a 10,0%</a:t>
            </a:r>
            <a:endParaRPr dirty="0"/>
          </a:p>
        </p:txBody>
      </p:sp>
      <p:sp>
        <p:nvSpPr>
          <p:cNvPr id="209" name="Google Shape;209;p14"/>
          <p:cNvSpPr txBox="1"/>
          <p:nvPr/>
        </p:nvSpPr>
        <p:spPr>
          <a:xfrm>
            <a:off x="7889081" y="4068960"/>
            <a:ext cx="35885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Alto Risco •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Análise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manual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restritiva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Limite</a:t>
            </a:r>
            <a:r>
              <a:rPr lang="en-US" sz="8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8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ajustado</a:t>
            </a:r>
            <a:endParaRPr dirty="0"/>
          </a:p>
        </p:txBody>
      </p:sp>
      <p:sp>
        <p:nvSpPr>
          <p:cNvPr id="210" name="Google Shape;210;p14"/>
          <p:cNvSpPr txBox="1"/>
          <p:nvPr/>
        </p:nvSpPr>
        <p:spPr>
          <a:xfrm>
            <a:off x="8041480" y="4383285"/>
            <a:ext cx="31694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FX-F</a:t>
            </a:r>
            <a:endParaRPr dirty="0"/>
          </a:p>
        </p:txBody>
      </p:sp>
      <p:sp>
        <p:nvSpPr>
          <p:cNvPr id="211" name="Google Shape;211;p14"/>
          <p:cNvSpPr txBox="1"/>
          <p:nvPr/>
        </p:nvSpPr>
        <p:spPr>
          <a:xfrm>
            <a:off x="7908131" y="4564260"/>
            <a:ext cx="3550443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Inadimplência &gt; 10,0% • Recusa automática no motor de crédito</a:t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614362" y="24925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14362" y="22353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14362" y="22353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714922" y="22353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614362" y="27592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14362" y="25020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614362" y="25020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714922" y="25020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614362" y="30259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14362" y="27687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614362" y="27687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714922" y="27687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14362" y="32926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14362" y="30354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14362" y="30354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714922" y="30354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14362" y="35593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14362" y="33021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14362" y="33021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2714922" y="33021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614362" y="3826073"/>
            <a:ext cx="2110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614362" y="3568898"/>
            <a:ext cx="21100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14362" y="3568898"/>
            <a:ext cx="9525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714922" y="3568898"/>
            <a:ext cx="9525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753725" y="4407098"/>
            <a:ext cx="7048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889081" y="2021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889081" y="24973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4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889081" y="2973585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889081" y="344983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4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889081" y="39260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4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908131" y="4421385"/>
            <a:ext cx="1143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513</Words>
  <Application>Microsoft Office PowerPoint</Application>
  <PresentationFormat>Widescreen</PresentationFormat>
  <Paragraphs>113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Lato</vt:lpstr>
      <vt:lpstr>Arial</vt:lpstr>
      <vt:lpstr>Poppins</vt:lpstr>
      <vt:lpstr>Calibri</vt:lpstr>
      <vt:lpstr>Poppins SemiBold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jonathan alves</dc:creator>
  <cp:lastModifiedBy>jonathan alves</cp:lastModifiedBy>
  <cp:revision>2</cp:revision>
  <dcterms:modified xsi:type="dcterms:W3CDTF">2026-07-23T16:10:14Z</dcterms:modified>
</cp:coreProperties>
</file>